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38160" y="-1463040"/>
            <a:ext cx="5669280" cy="5669280"/>
          </a:xfrm>
          <a:prstGeom prst="ellipse">
            <a:avLst/>
          </a:prstGeom>
          <a:solidFill>
            <a:srgbClr val="CAE9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3566160"/>
            <a:ext cx="2194560" cy="2194560"/>
          </a:xfrm>
          <a:prstGeom prst="ellipse">
            <a:avLst/>
          </a:prstGeom>
          <a:solidFill>
            <a:srgbClr val="A5D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5120640"/>
            <a:ext cx="457200" cy="457200"/>
          </a:xfrm>
          <a:prstGeom prst="ellipse">
            <a:avLst/>
          </a:prstGeom>
          <a:solidFill>
            <a:srgbClr val="376F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7680960" cy="169392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5400" b="0" i="0">
                <a:solidFill>
                  <a:srgbClr val="201914"/>
                </a:solidFill>
                <a:latin typeface="Lora"/>
              </a:rPr>
              <a:t>AI Skills: teaching agents how we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5646"/>
            <a:ext cx="7680960" cy="726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 i="0">
                <a:solidFill>
                  <a:srgbClr val="615953"/>
                </a:solidFill>
                <a:latin typeface="DM Sans"/>
              </a:rPr>
              <a:t>Germán Nicolás Gómez · AI Solutions Architect 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1292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Same prompt, three times. Watch what changes.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409444"/>
          <a:ext cx="10545775" cy="3078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5258"/>
                <a:gridCol w="3515258"/>
                <a:gridCol w="3515259"/>
              </a:tblGrid>
              <a:tr h="513080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201914"/>
                          </a:solidFill>
                          <a:latin typeface="DM Sans"/>
                        </a:rPr>
                        <a:t>Time</a:t>
                      </a:r>
                    </a:p>
                  </a:txBody>
                  <a:tcPr marL="137160" marR="137160" anchor="ctr"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201914"/>
                          </a:solidFill>
                          <a:latin typeface="DM Sans"/>
                        </a:rPr>
                        <a:t>Topic</a:t>
                      </a:r>
                    </a:p>
                  </a:txBody>
                  <a:tcPr marL="137160" marR="137160" anchor="ctr"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201914"/>
                          </a:solidFill>
                          <a:latin typeface="DM Sans"/>
                        </a:rPr>
                        <a:t>Length</a:t>
                      </a:r>
                    </a:p>
                  </a:txBody>
                  <a:tcPr marL="137160" marR="137160" anchor="ctr">
                    <a:solidFill>
                      <a:srgbClr val="F4EFE6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00:00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WTF is a Skill?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5 min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00:05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No Skill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5 min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00:10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Anatomy of a Skill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5 min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00:15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Build one by hand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10 min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00:25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Test it, fix it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5 min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Then we level it 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44802"/>
          <a:ext cx="10545775" cy="3078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5258"/>
                <a:gridCol w="3515258"/>
                <a:gridCol w="3515259"/>
              </a:tblGrid>
              <a:tr h="513080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201914"/>
                          </a:solidFill>
                          <a:latin typeface="DM Sans"/>
                        </a:rPr>
                        <a:t>Time</a:t>
                      </a:r>
                    </a:p>
                  </a:txBody>
                  <a:tcPr marL="137160" marR="137160" anchor="ctr"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201914"/>
                          </a:solidFill>
                          <a:latin typeface="DM Sans"/>
                        </a:rPr>
                        <a:t>Topic</a:t>
                      </a:r>
                    </a:p>
                  </a:txBody>
                  <a:tcPr marL="137160" marR="137160" anchor="ctr"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201914"/>
                          </a:solidFill>
                          <a:latin typeface="DM Sans"/>
                        </a:rPr>
                        <a:t>Length</a:t>
                      </a:r>
                    </a:p>
                  </a:txBody>
                  <a:tcPr marL="137160" marR="137160" anchor="ctr">
                    <a:solidFill>
                      <a:srgbClr val="F4EFE6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00:30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MCP vs Skill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5 min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00:35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Level up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10 min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00:45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Why the extra files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5 min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00:50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Other patterns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5 min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00:55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Q&amp;A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8436620" cy="7528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800" b="0" i="0">
                <a:solidFill>
                  <a:srgbClr val="F1EEE7"/>
                </a:solidFill>
                <a:latin typeface="Lora"/>
              </a:rPr>
              <a:t>WTF is a Skill?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50336"/>
            <a:ext cx="7382042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000" b="0" i="0">
                <a:solidFill>
                  <a:srgbClr val="A5DBCB"/>
                </a:solidFill>
                <a:latin typeface="DM Sans"/>
              </a:rPr>
              <a:t>Model + Tools + Skills = a specialized agent.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5EB7A7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EB7A7"/>
                </a:solidFill>
                <a:latin typeface="DM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[01] The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Each layer answers a different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44802"/>
            <a:ext cx="3332378" cy="193802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CD3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119122"/>
            <a:ext cx="128016" cy="128016"/>
          </a:xfrm>
          <a:prstGeom prst="ellipse">
            <a:avLst/>
          </a:prstGeom>
          <a:solidFill>
            <a:srgbClr val="376F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93442"/>
            <a:ext cx="2783738" cy="363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 i="0">
                <a:solidFill>
                  <a:srgbClr val="201914"/>
                </a:solidFill>
                <a:latin typeface="Lora"/>
              </a:rPr>
              <a:t>Model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1097280" y="2848102"/>
            <a:ext cx="2783738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knows things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9658" y="1844802"/>
            <a:ext cx="3332378" cy="193802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CD3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03978" y="2119122"/>
            <a:ext cx="128016" cy="128016"/>
          </a:xfrm>
          <a:prstGeom prst="ellipse">
            <a:avLst/>
          </a:prstGeom>
          <a:solidFill>
            <a:srgbClr val="376F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3978" y="2393442"/>
            <a:ext cx="2783738" cy="363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 i="0">
                <a:solidFill>
                  <a:srgbClr val="201914"/>
                </a:solidFill>
                <a:latin typeface="Lora"/>
              </a:rPr>
              <a:t>MCP / Tools</a:t>
            </a:r>
          </a:p>
        </p:txBody>
      </p:sp>
      <p:sp>
        <p:nvSpPr>
          <p:cNvPr id="11" name="body"/>
          <p:cNvSpPr txBox="1"/>
          <p:nvPr/>
        </p:nvSpPr>
        <p:spPr>
          <a:xfrm>
            <a:off x="4703978" y="2848102"/>
            <a:ext cx="2783738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can do things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6356" y="1844802"/>
            <a:ext cx="3332378" cy="193802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CD3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10676" y="2119122"/>
            <a:ext cx="128016" cy="128016"/>
          </a:xfrm>
          <a:prstGeom prst="ellipse">
            <a:avLst/>
          </a:prstGeom>
          <a:solidFill>
            <a:srgbClr val="376F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393442"/>
            <a:ext cx="2783738" cy="363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 i="0">
                <a:solidFill>
                  <a:srgbClr val="201914"/>
                </a:solidFill>
                <a:latin typeface="Lora"/>
              </a:rPr>
              <a:t>Skills</a:t>
            </a:r>
          </a:p>
        </p:txBody>
      </p:sp>
      <p:sp>
        <p:nvSpPr>
          <p:cNvPr id="15" name="body"/>
          <p:cNvSpPr txBox="1"/>
          <p:nvPr/>
        </p:nvSpPr>
        <p:spPr>
          <a:xfrm>
            <a:off x="8310676" y="2848102"/>
            <a:ext cx="2783738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know how WE do things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0" b="0" i="0">
                <a:solidFill>
                  <a:srgbClr val="5EB7A7"/>
                </a:solidFill>
                <a:latin typeface="Lora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8963908" cy="1122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</a:pPr>
            <a:r>
              <a:rPr sz="3400" b="0" i="1">
                <a:solidFill>
                  <a:srgbClr val="F1EEE7"/>
                </a:solidFill>
                <a:latin typeface="Lora"/>
              </a:rPr>
              <a:t>Prompts solve a task. Skills encode how your team solves a class of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5EB7A7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EB7A7"/>
                </a:solidFill>
                <a:latin typeface="DM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8436620" cy="7528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800" b="0" i="0">
                <a:solidFill>
                  <a:srgbClr val="F1EEE7"/>
                </a:solidFill>
                <a:latin typeface="Lora"/>
              </a:rPr>
              <a:t>No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50336"/>
            <a:ext cx="7382042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000" b="0" i="0">
                <a:solidFill>
                  <a:srgbClr val="A5DBCB"/>
                </a:solidFill>
                <a:latin typeface="DM Sans"/>
              </a:rPr>
              <a:t>Claude Code, connected to my real Garmin account through an MCP server.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5EB7A7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EB7A7"/>
                </a:solidFill>
                <a:latin typeface="DM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[02] No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A vague prompt, like every real 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44802"/>
            <a:ext cx="10545775" cy="688340"/>
          </a:xfrm>
          <a:prstGeom prst="roundRect">
            <a:avLst>
              <a:gd name="adj" fmla="val 6000"/>
            </a:avLst>
          </a:prstGeom>
          <a:solidFill>
            <a:srgbClr val="1C2929"/>
          </a:solidFill>
          <a:ln>
            <a:noFill/>
          </a:ln>
        </p:spPr>
        <p:txBody>
          <a:bodyPr rtlCol="0" anchor="t" wrap="square" lIns="228600" rIns="228600" tIns="228600" bIns="228600"/>
          <a:lstStyle/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Create a report about my last week.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22960" y="2807462"/>
            <a:ext cx="10545775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The agent can read my activities, sleep, heart rate, stress and training readiness. Real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[02] No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The agent has to guess everything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22960" y="1844802"/>
            <a:ext cx="10545775" cy="2222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Char char="•"/>
            </a:pPr>
            <a:r>
              <a:rPr sz="2000" b="0" i="0">
                <a:solidFill>
                  <a:srgbClr val="201914"/>
                </a:solidFill>
                <a:latin typeface="DM Sans"/>
              </a:rPr>
              <a:t>Which metrics?</a:t>
            </a:r>
          </a:p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Char char="•"/>
            </a:pPr>
            <a:r>
              <a:rPr sz="2000" b="0" i="0">
                <a:solidFill>
                  <a:srgbClr val="201914"/>
                </a:solidFill>
                <a:latin typeface="DM Sans"/>
              </a:rPr>
              <a:t>Which days?</a:t>
            </a:r>
          </a:p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Char char="•"/>
            </a:pPr>
            <a:r>
              <a:rPr sz="2000" b="0" i="0">
                <a:solidFill>
                  <a:srgbClr val="201914"/>
                </a:solidFill>
                <a:latin typeface="DM Sans"/>
              </a:rPr>
              <a:t>How long?</a:t>
            </a:r>
          </a:p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Char char="•"/>
            </a:pPr>
            <a:r>
              <a:rPr sz="2000" b="0" i="0">
                <a:solidFill>
                  <a:srgbClr val="201914"/>
                </a:solidFill>
                <a:latin typeface="DM Sans"/>
              </a:rPr>
              <a:t>Table? Essay? File?</a:t>
            </a:r>
          </a:p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Char char="•"/>
            </a:pPr>
            <a:r>
              <a:rPr sz="2000" b="0" i="0">
                <a:solidFill>
                  <a:srgbClr val="201914"/>
                </a:solidFill>
                <a:latin typeface="DM Sans"/>
              </a:rPr>
              <a:t>What is it allowed to say about my health?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22960" y="4341622"/>
            <a:ext cx="10545775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So it asks, or it guesses. Usually it guesses big.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[02] No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What I actually wanted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22960" y="1844802"/>
            <a:ext cx="10545775" cy="1333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Char char="•"/>
            </a:pPr>
            <a:r>
              <a:rPr sz="2000" b="0" i="0">
                <a:solidFill>
                  <a:srgbClr val="201914"/>
                </a:solidFill>
                <a:latin typeface="DM Sans"/>
              </a:rPr>
              <a:t>Resting heart rate and sleep score</a:t>
            </a:r>
          </a:p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Char char="•"/>
            </a:pPr>
            <a:r>
              <a:rPr sz="2000" b="0" i="0">
                <a:solidFill>
                  <a:srgbClr val="201914"/>
                </a:solidFill>
                <a:latin typeface="DM Sans"/>
              </a:rPr>
              <a:t>One line per day</a:t>
            </a:r>
          </a:p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Char char="•"/>
            </a:pPr>
            <a:r>
              <a:rPr sz="2000" b="0" i="0">
                <a:solidFill>
                  <a:srgbClr val="201914"/>
                </a:solidFill>
                <a:latin typeface="DM Sans"/>
              </a:rPr>
              <a:t>That's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8436620" cy="7528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800" b="0" i="0">
                <a:solidFill>
                  <a:srgbClr val="F1EEE7"/>
                </a:solidFill>
                <a:latin typeface="Lora"/>
              </a:rPr>
              <a:t>Anatomy of a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50336"/>
            <a:ext cx="7382042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000" b="0" i="0">
                <a:solidFill>
                  <a:srgbClr val="A5DBCB"/>
                </a:solidFill>
                <a:latin typeface="DM Sans"/>
              </a:rPr>
              <a:t>A Skill is a folder with a markdown file in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5EB7A7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EB7A7"/>
                </a:solidFill>
                <a:latin typeface="DM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[03]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It has to live in .claude/skills/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44802"/>
            <a:ext cx="10545775" cy="1150620"/>
          </a:xfrm>
          <a:prstGeom prst="roundRect">
            <a:avLst>
              <a:gd name="adj" fmla="val 6000"/>
            </a:avLst>
          </a:prstGeom>
          <a:solidFill>
            <a:srgbClr val="1C2929"/>
          </a:solidFill>
          <a:ln>
            <a:noFill/>
          </a:ln>
        </p:spPr>
        <p:txBody>
          <a:bodyPr rtlCol="0" anchor="t" wrap="square" lIns="228600" rIns="228600" tIns="228600" bIns="228600"/>
          <a:lstStyle/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.claude/skills/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└── garmin-weekly-performance-report/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    └── SKILL.md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22960" y="3269742"/>
            <a:ext cx="10545775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Anywhere else, it's just a folder with markdown in it. (We learned that one live.)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[03]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SKILL.md has two parts: when, and how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44802"/>
            <a:ext cx="10545775" cy="1844040"/>
          </a:xfrm>
          <a:prstGeom prst="roundRect">
            <a:avLst>
              <a:gd name="adj" fmla="val 6000"/>
            </a:avLst>
          </a:prstGeom>
          <a:solidFill>
            <a:srgbClr val="1C2929"/>
          </a:solidFill>
          <a:ln>
            <a:noFill/>
          </a:ln>
        </p:spPr>
        <p:txBody>
          <a:bodyPr rtlCol="0" anchor="t" wrap="square" lIns="228600" rIns="228600" tIns="228600" bIns="228600"/>
          <a:lstStyle/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---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name: ...             &lt;- what it's called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description: ...      &lt;- WHEN to use it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---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 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...                   &lt;- HOW to do 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[03]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1292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100 Skills installed does not mean 100 Skills in context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22960" y="2409444"/>
            <a:ext cx="10545775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The agent only sees each </a:t>
            </a:r>
            <a:r>
              <a:rPr sz="2000" b="0" i="0">
                <a:solidFill>
                  <a:srgbClr val="376F68"/>
                </a:solidFill>
                <a:latin typeface="Geist Mono"/>
              </a:rPr>
              <a:t>name</a:t>
            </a:r>
            <a:r>
              <a:rPr sz="2000" b="0" i="0">
                <a:solidFill>
                  <a:srgbClr val="615953"/>
                </a:solidFill>
                <a:latin typeface="DM Sans"/>
              </a:rPr>
              <a:t> and </a:t>
            </a:r>
            <a:r>
              <a:rPr sz="2000" b="0" i="0">
                <a:solidFill>
                  <a:srgbClr val="376F68"/>
                </a:solidFill>
                <a:latin typeface="Geist Mono"/>
              </a:rPr>
              <a:t>description</a:t>
            </a:r>
            <a:r>
              <a:rPr sz="2000" b="0" i="0">
                <a:solidFill>
                  <a:srgbClr val="615953"/>
                </a:solidFill>
                <a:latin typeface="DM Sans"/>
              </a:rPr>
              <a:t>, and loads the rest when a request matches.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344164"/>
            <a:ext cx="54864" cy="396240"/>
          </a:xfrm>
          <a:prstGeom prst="rect">
            <a:avLst/>
          </a:prstGeom>
          <a:solidFill>
            <a:srgbClr val="376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344164"/>
            <a:ext cx="10271455" cy="396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0" i="1">
                <a:solidFill>
                  <a:srgbClr val="201914"/>
                </a:solidFill>
                <a:latin typeface="Lora"/>
              </a:rPr>
              <a:t>So the description is the most important line in the 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8436620" cy="7528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800" b="0" i="0">
                <a:solidFill>
                  <a:srgbClr val="F1EEE7"/>
                </a:solidFill>
                <a:latin typeface="Lora"/>
              </a:rPr>
              <a:t>Build one by hand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50336"/>
            <a:ext cx="7382042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000" b="0" i="0">
                <a:solidFill>
                  <a:srgbClr val="A5DBCB"/>
                </a:solidFill>
                <a:latin typeface="DM Sans"/>
              </a:rPr>
              <a:t>Inside demo/, the empty project.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5EB7A7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EB7A7"/>
                </a:solidFill>
                <a:latin typeface="DM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[04] Build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1292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Create the folder next to the project it serves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09444"/>
            <a:ext cx="10545775" cy="1150620"/>
          </a:xfrm>
          <a:prstGeom prst="roundRect">
            <a:avLst>
              <a:gd name="adj" fmla="val 6000"/>
            </a:avLst>
          </a:prstGeom>
          <a:solidFill>
            <a:srgbClr val="1C2929"/>
          </a:solidFill>
          <a:ln>
            <a:noFill/>
          </a:ln>
        </p:spPr>
        <p:txBody>
          <a:bodyPr rtlCol="0" anchor="t" wrap="square" lIns="228600" rIns="228600" tIns="228600" bIns="228600"/>
          <a:lstStyle/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$ cd demo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$ mkdir -p .claude/skills/garmin-weekly-performance-report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$ nvim .claude/skills/garmin-weekly-performance-report/SKILL.md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[04] Build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The frontmatter says when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44802"/>
            <a:ext cx="10545775" cy="2075180"/>
          </a:xfrm>
          <a:prstGeom prst="roundRect">
            <a:avLst>
              <a:gd name="adj" fmla="val 6000"/>
            </a:avLst>
          </a:prstGeom>
          <a:solidFill>
            <a:srgbClr val="1C2929"/>
          </a:solidFill>
          <a:ln>
            <a:noFill/>
          </a:ln>
        </p:spPr>
        <p:txBody>
          <a:bodyPr rtlCol="0" anchor="t" wrap="square" lIns="228600" rIns="228600" tIns="228600" bIns="228600"/>
          <a:lstStyle/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---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name: garmin-weekly-performance-report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description: Garmin health report with resting heart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  rate and sleep score per day. Use when the user asks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  for a report about their last week, their recent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  days, their sleep or their heart rate.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---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[04] Build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The body says how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44802"/>
            <a:ext cx="10545775" cy="3230880"/>
          </a:xfrm>
          <a:prstGeom prst="roundRect">
            <a:avLst>
              <a:gd name="adj" fmla="val 6000"/>
            </a:avLst>
          </a:prstGeom>
          <a:solidFill>
            <a:srgbClr val="1C2929"/>
          </a:solidFill>
          <a:ln>
            <a:noFill/>
          </a:ln>
        </p:spPr>
        <p:txBody>
          <a:bodyPr rtlCol="0" anchor="t" wrap="square" lIns="228600" rIns="228600" tIns="228600" bIns="228600"/>
          <a:lstStyle/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# Garmin report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 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1. Period: the last 7 days, ending yesterday. If the user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   asks for a number of days ("my last 3 days"), use that.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2. For each day, call `get_stats` (resting HR) and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   `get_sleep_summary` (sleep score). All calls in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   parallel. Nothing else.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3. Reply with this table and nothing more: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   | Day | Resting HR | Sleep score |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   Last row: the average of each column.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4. Missing value: write "-". Never guess a number.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5. No medical advice. No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[04] Build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1292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Nineteen lines. No code. Every line is a decision.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409444"/>
          <a:ext cx="10545775" cy="288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2887"/>
                <a:gridCol w="5272888"/>
              </a:tblGrid>
              <a:tr h="480060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201914"/>
                          </a:solidFill>
                          <a:latin typeface="DM Sans"/>
                        </a:rPr>
                        <a:t>The agent would guess</a:t>
                      </a:r>
                    </a:p>
                  </a:txBody>
                  <a:tcPr marL="137160" marR="137160" anchor="ctr"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201914"/>
                          </a:solidFill>
                          <a:latin typeface="DM Sans"/>
                        </a:rPr>
                        <a:t>Step</a:t>
                      </a:r>
                    </a:p>
                  </a:txBody>
                  <a:tcPr marL="137160" marR="137160" anchor="ctr">
                    <a:solidFill>
                      <a:srgbClr val="F4EFE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01914"/>
                          </a:solidFill>
                          <a:latin typeface="DM Sans"/>
                        </a:rPr>
                        <a:t>Which days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01914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01914"/>
                          </a:solidFill>
                          <a:latin typeface="DM Sans"/>
                        </a:rPr>
                        <a:t>Which data, which calls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01914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01914"/>
                          </a:solidFill>
                          <a:latin typeface="DM Sans"/>
                        </a:rPr>
                        <a:t>What shape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01914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01914"/>
                          </a:solidFill>
                          <a:latin typeface="DM Sans"/>
                        </a:rPr>
                        <a:t>What if it's missing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01914"/>
                          </a:solidFill>
                          <a:latin typeface="DM Sans"/>
                        </a:rPr>
                        <a:t>4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01914"/>
                          </a:solidFill>
                          <a:latin typeface="DM Sans"/>
                        </a:rPr>
                        <a:t>What it must never do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201914"/>
                          </a:solidFill>
                          <a:latin typeface="DM Sans"/>
                        </a:rPr>
                        <a:t>5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5" name="body"/>
          <p:cNvSpPr txBox="1"/>
          <p:nvPr/>
        </p:nvSpPr>
        <p:spPr>
          <a:xfrm>
            <a:off x="822960" y="5564124"/>
            <a:ext cx="10545775" cy="297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615953"/>
                </a:solidFill>
                <a:latin typeface="DM Sans"/>
              </a:rPr>
              <a:t>Restart Claude so it finds the new Skill: </a:t>
            </a:r>
            <a:r>
              <a:rPr sz="1800" b="0" i="0">
                <a:solidFill>
                  <a:srgbClr val="376F68"/>
                </a:solidFill>
                <a:latin typeface="Geist Mono"/>
              </a:rPr>
              <a:t>../scripts/claude.sh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8436620" cy="7528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800" b="0" i="0">
                <a:solidFill>
                  <a:srgbClr val="F1EEE7"/>
                </a:solidFill>
                <a:latin typeface="Lora"/>
              </a:rPr>
              <a:t>Test it, fix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50336"/>
            <a:ext cx="7382042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000" b="0" i="0">
                <a:solidFill>
                  <a:srgbClr val="A5DBCB"/>
                </a:solidFill>
                <a:latin typeface="DM Sans"/>
              </a:rPr>
              <a:t>Same prompt as before. Character for character.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5EB7A7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EB7A7"/>
                </a:solidFill>
                <a:latin typeface="DM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[05] Test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Same prompt, a different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44802"/>
            <a:ext cx="10545775" cy="688340"/>
          </a:xfrm>
          <a:prstGeom prst="roundRect">
            <a:avLst>
              <a:gd name="adj" fmla="val 6000"/>
            </a:avLst>
          </a:prstGeom>
          <a:solidFill>
            <a:srgbClr val="1C2929"/>
          </a:solidFill>
          <a:ln>
            <a:noFill/>
          </a:ln>
        </p:spPr>
        <p:txBody>
          <a:bodyPr rtlCol="0" anchor="t" wrap="square" lIns="228600" rIns="228600" tIns="228600" bIns="228600"/>
          <a:lstStyle/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Create a report about my last week.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22960" y="2807462"/>
            <a:ext cx="10545775" cy="1778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Char char="•"/>
            </a:pPr>
            <a:r>
              <a:rPr sz="2000" b="0" i="0">
                <a:solidFill>
                  <a:srgbClr val="201914"/>
                </a:solidFill>
                <a:latin typeface="DM Sans"/>
              </a:rPr>
              <a:t>No questions</a:t>
            </a:r>
          </a:p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Char char="•"/>
            </a:pPr>
            <a:r>
              <a:rPr sz="2000" b="0" i="0">
                <a:solidFill>
                  <a:srgbClr val="201914"/>
                </a:solidFill>
                <a:latin typeface="DM Sans"/>
              </a:rPr>
              <a:t>A few small tool calls instead of a tour of the API</a:t>
            </a:r>
          </a:p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Char char="•"/>
            </a:pPr>
            <a:r>
              <a:rPr sz="2000" b="0" i="0">
                <a:solidFill>
                  <a:srgbClr val="201914"/>
                </a:solidFill>
                <a:latin typeface="DM Sans"/>
              </a:rPr>
              <a:t>The table I asked for, nothing else</a:t>
            </a:r>
          </a:p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Char char="•"/>
            </a:pPr>
            <a:r>
              <a:rPr sz="2000" b="0" i="0">
                <a:solidFill>
                  <a:srgbClr val="201914"/>
                </a:solidFill>
                <a:latin typeface="DM Sans"/>
              </a:rPr>
              <a:t>Same shape every time I run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[05] Test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Use the parameter, in plain English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44802"/>
            <a:ext cx="10545775" cy="688340"/>
          </a:xfrm>
          <a:prstGeom prst="roundRect">
            <a:avLst>
              <a:gd name="adj" fmla="val 6000"/>
            </a:avLst>
          </a:prstGeom>
          <a:solidFill>
            <a:srgbClr val="1C2929"/>
          </a:solidFill>
          <a:ln>
            <a:noFill/>
          </a:ln>
        </p:spPr>
        <p:txBody>
          <a:bodyPr rtlCol="0" anchor="t" wrap="square" lIns="228600" rIns="228600" tIns="228600" bIns="228600"/>
          <a:lstStyle/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Create a report about my last 3 days.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22960" y="2807462"/>
            <a:ext cx="10545775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Look at the Day column: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3411982"/>
          <a:ext cx="10545775" cy="102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5258"/>
                <a:gridCol w="3515258"/>
                <a:gridCol w="3515259"/>
              </a:tblGrid>
              <a:tr h="513080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201914"/>
                          </a:solidFill>
                          <a:latin typeface="DM Sans"/>
                        </a:rPr>
                        <a:t>Day</a:t>
                      </a:r>
                    </a:p>
                  </a:txBody>
                  <a:tcPr marL="137160" marR="137160" anchor="ctr"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201914"/>
                          </a:solidFill>
                          <a:latin typeface="DM Sans"/>
                        </a:rPr>
                        <a:t>Resting HR</a:t>
                      </a:r>
                    </a:p>
                  </a:txBody>
                  <a:tcPr marL="137160" marR="137160" anchor="ctr"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201914"/>
                          </a:solidFill>
                          <a:latin typeface="DM Sans"/>
                        </a:rPr>
                        <a:t>Sleep score</a:t>
                      </a:r>
                    </a:p>
                  </a:txBody>
                  <a:tcPr marL="137160" marR="137160" anchor="ctr">
                    <a:solidFill>
                      <a:srgbClr val="F4EFE6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2026-09-14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56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58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[05] Fix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1292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What you don't write down, the model decides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22960" y="2409444"/>
            <a:ext cx="10545775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I never said what a day looks like, so it chose. One line into step 3, restart, run it again: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344164"/>
            <a:ext cx="10545775" cy="688340"/>
          </a:xfrm>
          <a:prstGeom prst="roundRect">
            <a:avLst>
              <a:gd name="adj" fmla="val 6000"/>
            </a:avLst>
          </a:prstGeom>
          <a:solidFill>
            <a:srgbClr val="1C2929"/>
          </a:solidFill>
          <a:ln>
            <a:noFill/>
          </a:ln>
        </p:spPr>
        <p:txBody>
          <a:bodyPr rtlCol="0" anchor="t" wrap="square" lIns="228600" rIns="228600" tIns="228600" bIns="228600"/>
          <a:lstStyle/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Day column: weekday and day number, like "Mon 14".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[05] Fix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1292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A Skill is code. Read the output, change a line, run it again.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683764"/>
            <a:ext cx="8115071" cy="0"/>
          </a:xfrm>
          <a:prstGeom prst="line">
            <a:avLst/>
          </a:prstGeom>
          <a:ln w="19050">
            <a:solidFill>
              <a:srgbClr val="DC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22960" y="2409444"/>
            <a:ext cx="548640" cy="548640"/>
          </a:xfrm>
          <a:prstGeom prst="ellipse">
            <a:avLst/>
          </a:prstGeom>
          <a:solidFill>
            <a:srgbClr val="376F6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800" b="0" i="0">
                <a:solidFill>
                  <a:srgbClr val="FDFCF8"/>
                </a:solidFill>
                <a:latin typeface="Lora"/>
              </a:rPr>
              <a:t>1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822960" y="3232404"/>
            <a:ext cx="2430703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01914"/>
                </a:solidFill>
                <a:latin typeface="DM Sans"/>
              </a:rPr>
              <a:t>Write it down</a:t>
            </a:r>
          </a:p>
        </p:txBody>
      </p:sp>
      <p:sp>
        <p:nvSpPr>
          <p:cNvPr id="7" name="Oval 6"/>
          <p:cNvSpPr/>
          <p:nvPr/>
        </p:nvSpPr>
        <p:spPr>
          <a:xfrm>
            <a:off x="3527983" y="2409444"/>
            <a:ext cx="548640" cy="548640"/>
          </a:xfrm>
          <a:prstGeom prst="ellipse">
            <a:avLst/>
          </a:prstGeom>
          <a:solidFill>
            <a:srgbClr val="376F6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800" b="0" i="0">
                <a:solidFill>
                  <a:srgbClr val="FDFCF8"/>
                </a:solidFill>
                <a:latin typeface="Lora"/>
              </a:rPr>
              <a:t>2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3527983" y="3232404"/>
            <a:ext cx="2430703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01914"/>
                </a:solidFill>
                <a:latin typeface="DM Sans"/>
              </a:rPr>
              <a:t>Test</a:t>
            </a:r>
          </a:p>
        </p:txBody>
      </p:sp>
      <p:sp>
        <p:nvSpPr>
          <p:cNvPr id="9" name="Oval 8"/>
          <p:cNvSpPr/>
          <p:nvPr/>
        </p:nvSpPr>
        <p:spPr>
          <a:xfrm>
            <a:off x="6233007" y="2409444"/>
            <a:ext cx="548640" cy="548640"/>
          </a:xfrm>
          <a:prstGeom prst="ellipse">
            <a:avLst/>
          </a:prstGeom>
          <a:solidFill>
            <a:srgbClr val="376F6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800" b="0" i="0">
                <a:solidFill>
                  <a:srgbClr val="FDFCF8"/>
                </a:solidFill>
                <a:latin typeface="Lora"/>
              </a:rPr>
              <a:t>3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6233007" y="3232404"/>
            <a:ext cx="2430703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01914"/>
                </a:solidFill>
                <a:latin typeface="DM Sans"/>
              </a:rPr>
              <a:t>Fix</a:t>
            </a:r>
          </a:p>
        </p:txBody>
      </p:sp>
      <p:sp>
        <p:nvSpPr>
          <p:cNvPr id="11" name="Oval 10"/>
          <p:cNvSpPr/>
          <p:nvPr/>
        </p:nvSpPr>
        <p:spPr>
          <a:xfrm>
            <a:off x="8938031" y="2409444"/>
            <a:ext cx="548640" cy="548640"/>
          </a:xfrm>
          <a:prstGeom prst="ellipse">
            <a:avLst/>
          </a:prstGeom>
          <a:solidFill>
            <a:srgbClr val="376F6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800" b="0" i="0">
                <a:solidFill>
                  <a:srgbClr val="FDFCF8"/>
                </a:solidFill>
                <a:latin typeface="Lora"/>
              </a:rPr>
              <a:t>4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8938031" y="3232404"/>
            <a:ext cx="2430703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01914"/>
                </a:solidFill>
                <a:latin typeface="DM Sans"/>
              </a:rP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8436620" cy="7528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800" b="0" i="0">
                <a:solidFill>
                  <a:srgbClr val="F1EEE7"/>
                </a:solidFill>
                <a:latin typeface="Lora"/>
              </a:rPr>
              <a:t>MCP vs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50336"/>
            <a:ext cx="7382042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000" b="0" i="0">
                <a:solidFill>
                  <a:srgbClr val="A5DBCB"/>
                </a:solidFill>
                <a:latin typeface="DM Sans"/>
              </a:rPr>
              <a:t>Not competitors. Different questions.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5EB7A7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EB7A7"/>
                </a:solidFill>
                <a:latin typeface="DM Sa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[06] MCP vs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1292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One knows how to get the data. The other knows what we want.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409444"/>
          <a:ext cx="10545775" cy="256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2887"/>
                <a:gridCol w="5272888"/>
              </a:tblGrid>
              <a:tr h="513080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201914"/>
                          </a:solidFill>
                          <a:latin typeface="DM Sans"/>
                        </a:rPr>
                        <a:t>Garmin MCP</a:t>
                      </a:r>
                    </a:p>
                  </a:txBody>
                  <a:tcPr marL="137160" marR="137160" anchor="ctr"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201914"/>
                          </a:solidFill>
                          <a:latin typeface="DM Sans"/>
                        </a:rPr>
                        <a:t>Skill</a:t>
                      </a:r>
                    </a:p>
                  </a:txBody>
                  <a:tcPr marL="137160" marR="137160" anchor="ctr">
                    <a:solidFill>
                      <a:srgbClr val="F4EFE6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376F68"/>
                          </a:solidFill>
                          <a:latin typeface="Geist Mono"/>
                        </a:rPr>
                        <a:t>get_stats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which days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376F68"/>
                          </a:solidFill>
                          <a:latin typeface="Geist Mono"/>
                        </a:rPr>
                        <a:t>get_sleep_summary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which calls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...and many more tools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which numbers, what shape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Knows HOW TO GET the data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Knows WHAT WE WANT from it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[06] MCP vs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Different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44802"/>
            <a:ext cx="5135727" cy="193802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CD3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119122"/>
            <a:ext cx="128016" cy="128016"/>
          </a:xfrm>
          <a:prstGeom prst="ellipse">
            <a:avLst/>
          </a:prstGeom>
          <a:solidFill>
            <a:srgbClr val="376F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93442"/>
            <a:ext cx="4587087" cy="363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 i="0">
                <a:solidFill>
                  <a:srgbClr val="201914"/>
                </a:solidFill>
                <a:latin typeface="Lora"/>
              </a:rPr>
              <a:t>MCP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1097280" y="2848102"/>
            <a:ext cx="4587087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What can the agent access?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844802"/>
            <a:ext cx="5135727" cy="193802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CD3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07327" y="2119122"/>
            <a:ext cx="128016" cy="128016"/>
          </a:xfrm>
          <a:prstGeom prst="ellipse">
            <a:avLst/>
          </a:prstGeom>
          <a:solidFill>
            <a:srgbClr val="376F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7327" y="2393442"/>
            <a:ext cx="4587087" cy="363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 i="0">
                <a:solidFill>
                  <a:srgbClr val="201914"/>
                </a:solidFill>
                <a:latin typeface="Lora"/>
              </a:rPr>
              <a:t>Skill</a:t>
            </a:r>
          </a:p>
        </p:txBody>
      </p:sp>
      <p:sp>
        <p:nvSpPr>
          <p:cNvPr id="11" name="body"/>
          <p:cNvSpPr txBox="1"/>
          <p:nvPr/>
        </p:nvSpPr>
        <p:spPr>
          <a:xfrm>
            <a:off x="6507327" y="2848102"/>
            <a:ext cx="4587087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How should the agent do this job?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57142"/>
            <a:ext cx="54864" cy="792480"/>
          </a:xfrm>
          <a:prstGeom prst="rect">
            <a:avLst/>
          </a:prstGeom>
          <a:solidFill>
            <a:srgbClr val="376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57142"/>
            <a:ext cx="10271455" cy="792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0" i="1">
                <a:solidFill>
                  <a:srgbClr val="201914"/>
                </a:solidFill>
                <a:latin typeface="Lora"/>
              </a:rPr>
              <a:t>MCP gives the agent tools. Skills teach the agent how we use those tools.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8436620" cy="7528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800" b="0" i="0">
                <a:solidFill>
                  <a:srgbClr val="F1EEE7"/>
                </a:solidFill>
                <a:latin typeface="Lora"/>
              </a:rPr>
              <a:t>Level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50336"/>
            <a:ext cx="7382042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000" b="0" i="0">
                <a:solidFill>
                  <a:srgbClr val="A5DBCB"/>
                </a:solidFill>
                <a:latin typeface="DM Sans"/>
              </a:rPr>
              <a:t>Same Skill. Version 2. Built for a real weekly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5EB7A7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EB7A7"/>
                </a:solidFill>
                <a:latin typeface="DM San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[07] Level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Version 2 grows references and scripts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44802"/>
            <a:ext cx="10545775" cy="2537460"/>
          </a:xfrm>
          <a:prstGeom prst="roundRect">
            <a:avLst>
              <a:gd name="adj" fmla="val 6000"/>
            </a:avLst>
          </a:prstGeom>
          <a:solidFill>
            <a:srgbClr val="1C2929"/>
          </a:solidFill>
          <a:ln>
            <a:noFill/>
          </a:ln>
        </p:spPr>
        <p:txBody>
          <a:bodyPr rtlCol="0" anchor="t" wrap="square" lIns="228600" rIns="228600" tIns="228600" bIns="228600"/>
          <a:lstStyle/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garmin-weekly-performance-report/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├── SKILL.md                      &lt;- same idea, longer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├── metrics.md                    &lt;- what counts as "notable"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├── report-template.md            &lt;- the sections, in order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├── interpretation-guidelines.md  &lt;- how to talk about health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└── scripts/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    ├── generate_html.py          &lt;- builds the web report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    ├── open_in_chrome.sh         &lt;- opens it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    └── ...                       &lt;- charts, PDF, shared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[07] Level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Same prompt. Third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44802"/>
            <a:ext cx="10545775" cy="919480"/>
          </a:xfrm>
          <a:prstGeom prst="roundRect">
            <a:avLst>
              <a:gd name="adj" fmla="val 6000"/>
            </a:avLst>
          </a:prstGeom>
          <a:solidFill>
            <a:srgbClr val="1C2929"/>
          </a:solidFill>
          <a:ln>
            <a:noFill/>
          </a:ln>
        </p:spPr>
        <p:txBody>
          <a:bodyPr rtlCol="0" anchor="t" wrap="square" lIns="228600" rIns="228600" tIns="228600" bIns="228600"/>
          <a:lstStyle/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$ ../scripts/install-skill.sh v2</a:t>
            </a:r>
          </a:p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$ ../scripts/claude.sh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38602"/>
            <a:ext cx="10545775" cy="688340"/>
          </a:xfrm>
          <a:prstGeom prst="roundRect">
            <a:avLst>
              <a:gd name="adj" fmla="val 6000"/>
            </a:avLst>
          </a:prstGeom>
          <a:solidFill>
            <a:srgbClr val="1C2929"/>
          </a:solidFill>
          <a:ln>
            <a:noFill/>
          </a:ln>
        </p:spPr>
        <p:txBody>
          <a:bodyPr rtlCol="0" anchor="t" wrap="square" lIns="228600" rIns="228600" tIns="228600" bIns="228600"/>
          <a:lstStyle/>
          <a:p>
            <a:pPr algn="l"/>
            <a:r>
              <a:rPr sz="1400" b="0" i="0">
                <a:solidFill>
                  <a:srgbClr val="F1EEE7"/>
                </a:solidFill>
                <a:latin typeface="Geist Mono"/>
              </a:rPr>
              <a:t>Create a report about my last week.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8436620" cy="7528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800" b="0" i="0">
                <a:solidFill>
                  <a:srgbClr val="F1EEE7"/>
                </a:solidFill>
                <a:latin typeface="Lora"/>
              </a:rPr>
              <a:t>Why the extra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50336"/>
            <a:ext cx="7382042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000" b="0" i="0">
                <a:solidFill>
                  <a:srgbClr val="A5DBCB"/>
                </a:solidFill>
                <a:latin typeface="DM Sans"/>
              </a:rPr>
              <a:t>Same shape as the v1 you just watched me type. It just grew.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5EB7A7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EB7A7"/>
                </a:solidFill>
                <a:latin typeface="DM San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[08]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References, not one giant file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22960" y="1844802"/>
            <a:ext cx="10545775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376F68"/>
                </a:solidFill>
                <a:latin typeface="Geist Mono"/>
              </a:rPr>
              <a:t>SKILL.md</a:t>
            </a:r>
            <a:r>
              <a:rPr sz="2000" b="0" i="0">
                <a:solidFill>
                  <a:srgbClr val="615953"/>
                </a:solidFill>
                <a:latin typeface="DM Sans"/>
              </a:rPr>
              <a:t> stays short and points at the other files. The agent reads them when it needs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[08]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1292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The model writes words. Scripts draw numbers.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09444"/>
            <a:ext cx="5135727" cy="160782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CD3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683764"/>
            <a:ext cx="128016" cy="128016"/>
          </a:xfrm>
          <a:prstGeom prst="ellipse">
            <a:avLst/>
          </a:prstGeom>
          <a:solidFill>
            <a:srgbClr val="376F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958084"/>
            <a:ext cx="4587087" cy="363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 i="0">
                <a:solidFill>
                  <a:srgbClr val="201914"/>
                </a:solidFill>
                <a:latin typeface="Lora"/>
              </a:rPr>
              <a:t>The model writes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1097280" y="3412744"/>
            <a:ext cx="4587087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the summary, what to watch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409444"/>
            <a:ext cx="5135727" cy="160782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CD3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07327" y="2683764"/>
            <a:ext cx="128016" cy="128016"/>
          </a:xfrm>
          <a:prstGeom prst="ellipse">
            <a:avLst/>
          </a:prstGeom>
          <a:solidFill>
            <a:srgbClr val="376F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7327" y="2958084"/>
            <a:ext cx="4587087" cy="363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 i="0">
                <a:solidFill>
                  <a:srgbClr val="201914"/>
                </a:solidFill>
                <a:latin typeface="Lora"/>
              </a:rPr>
              <a:t>The script draws</a:t>
            </a:r>
          </a:p>
        </p:txBody>
      </p:sp>
      <p:sp>
        <p:nvSpPr>
          <p:cNvPr id="11" name="body"/>
          <p:cNvSpPr txBox="1"/>
          <p:nvPr/>
        </p:nvSpPr>
        <p:spPr>
          <a:xfrm>
            <a:off x="6507327" y="3412744"/>
            <a:ext cx="4587087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every number, chart, flagged day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822960" y="4291584"/>
            <a:ext cx="10545775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The model can't fudge a chart, and the page looks the same every week.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[08]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Scripts make mistakes visible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22960" y="1844802"/>
            <a:ext cx="10545775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In rehearsal the model wrote that my runs were on "Saturday". The chart, drawn from the data, put them on Sunday.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822960" y="2779522"/>
            <a:ext cx="10545775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The chart was right. The fix was one new check in </a:t>
            </a:r>
            <a:r>
              <a:rPr sz="2000" b="0" i="0">
                <a:solidFill>
                  <a:srgbClr val="376F68"/>
                </a:solidFill>
                <a:latin typeface="Geist Mono"/>
              </a:rPr>
              <a:t>interpretation-guidelines.md</a:t>
            </a:r>
            <a:r>
              <a:rPr sz="2000" b="0" i="0">
                <a:solidFill>
                  <a:srgbClr val="615953"/>
                </a:solidFill>
                <a:latin typeface="DM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[08] Manners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1292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Health data needs manners: say what happened, not why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409444"/>
          <a:ext cx="10545775" cy="2052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2887"/>
                <a:gridCol w="5272888"/>
              </a:tblGrid>
              <a:tr h="513080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201914"/>
                          </a:solidFill>
                          <a:latin typeface="DM Sans"/>
                        </a:rPr>
                        <a:t>Layer</a:t>
                      </a:r>
                    </a:p>
                  </a:txBody>
                  <a:tcPr marL="137160" marR="137160" anchor="ctr"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201914"/>
                          </a:solidFill>
                          <a:latin typeface="DM Sans"/>
                        </a:rPr>
                        <a:t>Example</a:t>
                      </a:r>
                    </a:p>
                  </a:txBody>
                  <a:tcPr marL="137160" marR="137160" anchor="ctr">
                    <a:solidFill>
                      <a:srgbClr val="F4EFE6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Data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HRV 39 ms, Garmin average 44 ms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Observation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11% below average that night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Interpretation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1">
                          <a:solidFill>
                            <a:srgbClr val="201914"/>
                          </a:solidFill>
                          <a:latin typeface="DM Sans"/>
                        </a:rPr>
                        <a:t>coincided with</a:t>
                      </a:r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 the longest run of the week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5" name="body"/>
          <p:cNvSpPr txBox="1"/>
          <p:nvPr/>
        </p:nvSpPr>
        <p:spPr>
          <a:xfrm>
            <a:off x="822960" y="4736084"/>
            <a:ext cx="10545775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"Coincided with". Never "caused by".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[08]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1292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Skills are code. Code has performance bugs.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09444"/>
            <a:ext cx="3332378" cy="226822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CD3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683764"/>
            <a:ext cx="128016" cy="128016"/>
          </a:xfrm>
          <a:prstGeom prst="ellipse">
            <a:avLst/>
          </a:prstGeom>
          <a:solidFill>
            <a:srgbClr val="376F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958084"/>
            <a:ext cx="2783738" cy="363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 i="0">
                <a:solidFill>
                  <a:srgbClr val="201914"/>
                </a:solidFill>
                <a:latin typeface="Lora"/>
              </a:rPr>
              <a:t>Before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1097280" y="3412744"/>
            <a:ext cx="2783738" cy="990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four weeks of history, about 11 minutes per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9658" y="2409444"/>
            <a:ext cx="3332378" cy="226822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CD3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03978" y="2683764"/>
            <a:ext cx="128016" cy="128016"/>
          </a:xfrm>
          <a:prstGeom prst="ellipse">
            <a:avLst/>
          </a:prstGeom>
          <a:solidFill>
            <a:srgbClr val="376F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3978" y="2958084"/>
            <a:ext cx="2783738" cy="363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 i="0">
                <a:solidFill>
                  <a:srgbClr val="201914"/>
                </a:solidFill>
                <a:latin typeface="Lora"/>
              </a:rPr>
              <a:t>After</a:t>
            </a:r>
          </a:p>
        </p:txBody>
      </p:sp>
      <p:sp>
        <p:nvSpPr>
          <p:cNvPr id="11" name="body"/>
          <p:cNvSpPr txBox="1"/>
          <p:nvPr/>
        </p:nvSpPr>
        <p:spPr>
          <a:xfrm>
            <a:off x="4703978" y="3412744"/>
            <a:ext cx="2783738" cy="990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one week of history, about 3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6356" y="2409444"/>
            <a:ext cx="3332378" cy="226822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CD3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10676" y="2683764"/>
            <a:ext cx="128016" cy="128016"/>
          </a:xfrm>
          <a:prstGeom prst="ellipse">
            <a:avLst/>
          </a:prstGeom>
          <a:solidFill>
            <a:srgbClr val="376F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958084"/>
            <a:ext cx="2783738" cy="363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 i="0">
                <a:solidFill>
                  <a:srgbClr val="201914"/>
                </a:solidFill>
                <a:latin typeface="Lora"/>
              </a:rPr>
              <a:t>The fix</a:t>
            </a:r>
          </a:p>
        </p:txBody>
      </p:sp>
      <p:sp>
        <p:nvSpPr>
          <p:cNvPr id="15" name="body"/>
          <p:cNvSpPr txBox="1"/>
          <p:nvPr/>
        </p:nvSpPr>
        <p:spPr>
          <a:xfrm>
            <a:off x="8310676" y="3412744"/>
            <a:ext cx="2783738" cy="990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one paragraph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[08] Design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Design rules, short version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22960" y="1844802"/>
            <a:ext cx="10545775" cy="311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AutoNum type="arabicPeriod"/>
            </a:pPr>
            <a:r>
              <a:rPr sz="2000" b="0" i="0">
                <a:solidFill>
                  <a:srgbClr val="201914"/>
                </a:solidFill>
                <a:latin typeface="DM Sans"/>
              </a:rPr>
              <a:t>One clear job.</a:t>
            </a:r>
          </a:p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AutoNum type="arabicPeriod"/>
            </a:pPr>
            <a:r>
              <a:rPr sz="2000" b="0" i="0">
                <a:solidFill>
                  <a:srgbClr val="201914"/>
                </a:solidFill>
                <a:latin typeface="DM Sans"/>
              </a:rPr>
              <a:t>A description that says WHEN.</a:t>
            </a:r>
          </a:p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AutoNum type="arabicPeriod"/>
            </a:pPr>
            <a:r>
              <a:rPr sz="2000" b="0" i="0">
                <a:solidFill>
                  <a:srgbClr val="201914"/>
                </a:solidFill>
                <a:latin typeface="DM Sans"/>
              </a:rPr>
              <a:t>Decisions, not obvious facts.</a:t>
            </a:r>
          </a:p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AutoNum type="arabicPeriod"/>
            </a:pPr>
            <a:r>
              <a:rPr sz="2000" b="0" i="0">
                <a:solidFill>
                  <a:srgbClr val="201914"/>
                </a:solidFill>
                <a:latin typeface="DM Sans"/>
              </a:rPr>
              <a:t>Short </a:t>
            </a:r>
            <a:r>
              <a:rPr sz="2000" b="0" i="0">
                <a:solidFill>
                  <a:srgbClr val="376F68"/>
                </a:solidFill>
                <a:latin typeface="Geist Mono"/>
              </a:rPr>
              <a:t>SKILL.md</a:t>
            </a:r>
            <a:r>
              <a:rPr sz="2000" b="0" i="0">
                <a:solidFill>
                  <a:srgbClr val="201914"/>
                </a:solidFill>
                <a:latin typeface="DM Sans"/>
              </a:rPr>
              <a:t>, references for the rest.</a:t>
            </a:r>
          </a:p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AutoNum type="arabicPeriod"/>
            </a:pPr>
            <a:r>
              <a:rPr sz="2000" b="0" i="0">
                <a:solidFill>
                  <a:srgbClr val="201914"/>
                </a:solidFill>
                <a:latin typeface="DM Sans"/>
              </a:rPr>
              <a:t>Examples and boundaries.</a:t>
            </a:r>
          </a:p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AutoNum type="arabicPeriod"/>
            </a:pPr>
            <a:r>
              <a:rPr sz="2000" b="0" i="0">
                <a:solidFill>
                  <a:srgbClr val="201914"/>
                </a:solidFill>
                <a:latin typeface="DM Sans"/>
              </a:rPr>
              <a:t>Scripts for anything that must be exact.</a:t>
            </a:r>
          </a:p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AutoNum type="arabicPeriod"/>
            </a:pPr>
            <a:r>
              <a:rPr sz="2000" b="0" i="0">
                <a:solidFill>
                  <a:srgbClr val="201914"/>
                </a:solidFill>
                <a:latin typeface="DM Sans"/>
              </a:rPr>
              <a:t>Test it. Fix it. Version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8436620" cy="7528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800" b="0" i="0">
                <a:solidFill>
                  <a:srgbClr val="F1EEE7"/>
                </a:solidFill>
                <a:latin typeface="Lora"/>
              </a:rPr>
              <a:t>Other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50336"/>
            <a:ext cx="7382042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000" b="0" i="0">
                <a:solidFill>
                  <a:srgbClr val="A5DBCB"/>
                </a:solidFill>
                <a:latin typeface="DM Sans"/>
              </a:rPr>
              <a:t>Speed round.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5EB7A7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EB7A7"/>
                </a:solidFill>
                <a:latin typeface="DM San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[09] Other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Without a Skill vs with 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44802"/>
          <a:ext cx="10545775" cy="1539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5258"/>
                <a:gridCol w="3515258"/>
                <a:gridCol w="3515259"/>
              </a:tblGrid>
              <a:tr h="513080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201914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137160" marR="137160" anchor="ctr"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201914"/>
                          </a:solidFill>
                          <a:latin typeface="DM Sans"/>
                        </a:rPr>
                        <a:t>Developer</a:t>
                      </a:r>
                    </a:p>
                  </a:txBody>
                  <a:tcPr marL="137160" marR="137160" anchor="ctr"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201914"/>
                          </a:solidFill>
                          <a:latin typeface="DM Sans"/>
                        </a:rPr>
                        <a:t>AI</a:t>
                      </a:r>
                    </a:p>
                  </a:txBody>
                  <a:tcPr marL="137160" marR="137160" anchor="ctr">
                    <a:solidFill>
                      <a:srgbClr val="F4EFE6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Without Skill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"Deploy this."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"Great. I have 17 questions."</a:t>
                      </a:r>
                    </a:p>
                  </a:txBody>
                  <a:tcPr marL="137160" marR="137160" anchor="ctr">
                    <a:solidFill>
                      <a:srgbClr val="FFFDF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With </a:t>
                      </a:r>
                      <a:r>
                        <a:rPr sz="2000" b="0" i="0">
                          <a:solidFill>
                            <a:srgbClr val="376F68"/>
                          </a:solidFill>
                          <a:latin typeface="Geist Mono"/>
                        </a:rPr>
                        <a:t>aws-production-deployment/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"Deploy this."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201914"/>
                          </a:solidFill>
                          <a:latin typeface="DM Sans"/>
                        </a:rPr>
                        <a:t>"I know the drill."</a:t>
                      </a:r>
                    </a:p>
                  </a:txBody>
                  <a:tcPr marL="137160" marR="137160" anchor="ctr"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[09] Other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Skills your team could write tomorrow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22960" y="1844802"/>
            <a:ext cx="10545775" cy="1778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Char char="•"/>
            </a:pPr>
            <a:r>
              <a:rPr sz="2000" b="0" i="0">
                <a:solidFill>
                  <a:srgbClr val="376F68"/>
                </a:solidFill>
                <a:latin typeface="Geist Mono"/>
              </a:rPr>
              <a:t>incident-response/</a:t>
            </a:r>
            <a:r>
              <a:rPr sz="2000" b="0" i="0">
                <a:solidFill>
                  <a:srgbClr val="201914"/>
                </a:solidFill>
                <a:latin typeface="DM Sans"/>
              </a:rPr>
              <a:t>: who gets paged, what "resolved" means</a:t>
            </a:r>
          </a:p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Char char="•"/>
            </a:pPr>
            <a:r>
              <a:rPr sz="2000" b="0" i="0">
                <a:solidFill>
                  <a:srgbClr val="376F68"/>
                </a:solidFill>
                <a:latin typeface="Geist Mono"/>
              </a:rPr>
              <a:t>pull-request-review/</a:t>
            </a:r>
            <a:r>
              <a:rPr sz="2000" b="0" i="0">
                <a:solidFill>
                  <a:srgbClr val="201914"/>
                </a:solidFill>
                <a:latin typeface="DM Sans"/>
              </a:rPr>
              <a:t>: what blocks a merge HERE</a:t>
            </a:r>
          </a:p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Char char="•"/>
            </a:pPr>
            <a:r>
              <a:rPr sz="2000" b="0" i="0">
                <a:solidFill>
                  <a:srgbClr val="376F68"/>
                </a:solidFill>
                <a:latin typeface="Geist Mono"/>
              </a:rPr>
              <a:t>release-readiness/</a:t>
            </a:r>
            <a:r>
              <a:rPr sz="2000" b="0" i="0">
                <a:solidFill>
                  <a:srgbClr val="201914"/>
                </a:solidFill>
                <a:latin typeface="DM Sans"/>
              </a:rPr>
              <a:t>: the checklist in one senior's head</a:t>
            </a:r>
          </a:p>
          <a:p>
            <a:pPr marL="320040" indent="-320040">
              <a:lnSpc>
                <a:spcPct val="115000"/>
              </a:lnSpc>
              <a:spcAft>
                <a:spcPts val="900"/>
              </a:spcAft>
              <a:buClr>
                <a:srgbClr val="376F68"/>
              </a:buClr>
              <a:buChar char="•"/>
            </a:pPr>
            <a:r>
              <a:rPr sz="2000" b="0" i="0">
                <a:solidFill>
                  <a:srgbClr val="376F68"/>
                </a:solidFill>
                <a:latin typeface="Geist Mono"/>
              </a:rPr>
              <a:t>meeting-notes/</a:t>
            </a:r>
            <a:r>
              <a:rPr sz="2000" b="0" i="0">
                <a:solidFill>
                  <a:srgbClr val="201914"/>
                </a:solidFill>
                <a:latin typeface="DM Sans"/>
              </a:rPr>
              <a:t>: decisions, owners, due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[09] Other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11292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Today, the senior engineer knows how production works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822960" y="2409444"/>
            <a:ext cx="10545775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Tomorrow: </a:t>
            </a:r>
            <a:r>
              <a:rPr sz="2000" b="0" i="0">
                <a:solidFill>
                  <a:srgbClr val="376F68"/>
                </a:solidFill>
                <a:latin typeface="Geist Mono"/>
              </a:rPr>
              <a:t>production-deployment/SKILL.md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13964"/>
            <a:ext cx="54864" cy="792480"/>
          </a:xfrm>
          <a:prstGeom prst="rect">
            <a:avLst/>
          </a:prstGeom>
          <a:solidFill>
            <a:srgbClr val="376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013964"/>
            <a:ext cx="10271455" cy="792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0" i="1">
                <a:solidFill>
                  <a:srgbClr val="201914"/>
                </a:solidFill>
                <a:latin typeface="Lora"/>
              </a:rPr>
              <a:t>Enterprise AI Architecture, current version. Step 1: ask the senior engineer. Step 2: hope they still work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231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1" i="0">
                <a:solidFill>
                  <a:srgbClr val="376F68"/>
                </a:solidFill>
                <a:latin typeface="DM Sans"/>
              </a:rPr>
              <a:t>[10] The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45775" cy="564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600" b="0" i="0">
                <a:solidFill>
                  <a:srgbClr val="201914"/>
                </a:solidFill>
                <a:latin typeface="Lora"/>
              </a:rPr>
              <a:t>Access is not procedure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44802"/>
            <a:ext cx="2430703" cy="259842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CD3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119122"/>
            <a:ext cx="128016" cy="128016"/>
          </a:xfrm>
          <a:prstGeom prst="ellipse">
            <a:avLst/>
          </a:prstGeom>
          <a:solidFill>
            <a:srgbClr val="376F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93442"/>
            <a:ext cx="1882063" cy="363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 i="0">
                <a:solidFill>
                  <a:srgbClr val="201914"/>
                </a:solidFill>
                <a:latin typeface="Lora"/>
              </a:rPr>
              <a:t>Prompts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1097280" y="2848102"/>
            <a:ext cx="1882063" cy="1320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solve a 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7983" y="1844802"/>
            <a:ext cx="2430703" cy="259842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CD3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02303" y="2119122"/>
            <a:ext cx="128016" cy="128016"/>
          </a:xfrm>
          <a:prstGeom prst="ellipse">
            <a:avLst/>
          </a:prstGeom>
          <a:solidFill>
            <a:srgbClr val="376F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02303" y="2393442"/>
            <a:ext cx="1882063" cy="363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 i="0">
                <a:solidFill>
                  <a:srgbClr val="201914"/>
                </a:solidFill>
                <a:latin typeface="Lora"/>
              </a:rPr>
              <a:t>Skills</a:t>
            </a:r>
          </a:p>
        </p:txBody>
      </p:sp>
      <p:sp>
        <p:nvSpPr>
          <p:cNvPr id="11" name="body"/>
          <p:cNvSpPr txBox="1"/>
          <p:nvPr/>
        </p:nvSpPr>
        <p:spPr>
          <a:xfrm>
            <a:off x="3802303" y="2848102"/>
            <a:ext cx="1882063" cy="1320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encode how your team solves a class of 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844802"/>
            <a:ext cx="2430703" cy="259842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CD3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07327" y="2119122"/>
            <a:ext cx="128016" cy="128016"/>
          </a:xfrm>
          <a:prstGeom prst="ellipse">
            <a:avLst/>
          </a:prstGeom>
          <a:solidFill>
            <a:srgbClr val="376F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2393442"/>
            <a:ext cx="1882063" cy="363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 i="0">
                <a:solidFill>
                  <a:srgbClr val="201914"/>
                </a:solidFill>
                <a:latin typeface="Lora"/>
              </a:rPr>
              <a:t>MCP</a:t>
            </a:r>
          </a:p>
        </p:txBody>
      </p:sp>
      <p:sp>
        <p:nvSpPr>
          <p:cNvPr id="15" name="body"/>
          <p:cNvSpPr txBox="1"/>
          <p:nvPr/>
        </p:nvSpPr>
        <p:spPr>
          <a:xfrm>
            <a:off x="6507327" y="2848102"/>
            <a:ext cx="1882063" cy="1320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gives the agent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8031" y="1844802"/>
            <a:ext cx="2430703" cy="259842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CD3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12351" y="2119122"/>
            <a:ext cx="128016" cy="128016"/>
          </a:xfrm>
          <a:prstGeom prst="ellipse">
            <a:avLst/>
          </a:prstGeom>
          <a:solidFill>
            <a:srgbClr val="376F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2351" y="2393442"/>
            <a:ext cx="1882063" cy="363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 i="0">
                <a:solidFill>
                  <a:srgbClr val="201914"/>
                </a:solidFill>
                <a:latin typeface="Lora"/>
              </a:rPr>
              <a:t>Skills</a:t>
            </a:r>
          </a:p>
        </p:txBody>
      </p:sp>
      <p:sp>
        <p:nvSpPr>
          <p:cNvPr id="19" name="body"/>
          <p:cNvSpPr txBox="1"/>
          <p:nvPr/>
        </p:nvSpPr>
        <p:spPr>
          <a:xfrm>
            <a:off x="9212351" y="2848102"/>
            <a:ext cx="1882063" cy="1320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615953"/>
                </a:solidFill>
                <a:latin typeface="DM Sans"/>
              </a:rPr>
              <a:t>give the agent procedure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615953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615953"/>
                </a:solidFill>
                <a:latin typeface="DM San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0" b="0" i="0">
                <a:solidFill>
                  <a:srgbClr val="5EB7A7"/>
                </a:solidFill>
                <a:latin typeface="Lora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8963908" cy="1122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</a:pPr>
            <a:r>
              <a:rPr sz="3400" b="0" i="1">
                <a:solidFill>
                  <a:srgbClr val="F1EEE7"/>
                </a:solidFill>
                <a:latin typeface="Lora"/>
              </a:rPr>
              <a:t>Don't teach the AI the same thing twice.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5EB7A7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EB7A7"/>
                </a:solidFill>
                <a:latin typeface="DM San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8436620" cy="7528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4800" b="0" i="0">
                <a:solidFill>
                  <a:srgbClr val="F1EEE7"/>
                </a:solidFill>
                <a:latin typeface="Lora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50336"/>
            <a:ext cx="7382042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000" b="0" i="0">
                <a:solidFill>
                  <a:srgbClr val="A5DBCB"/>
                </a:solidFill>
                <a:latin typeface="DM Sans"/>
              </a:rPr>
              <a:t>$ exit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100" b="0" i="0">
                <a:solidFill>
                  <a:srgbClr val="5EB7A7"/>
                </a:solidFill>
                <a:latin typeface="DM Sans"/>
              </a:rPr>
              <a:t>AI Skills: teaching agents 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6355080"/>
            <a:ext cx="5272887" cy="181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EB7A7"/>
                </a:solidFill>
                <a:latin typeface="DM Sans"/>
              </a:rPr>
              <a:t>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